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DCBED-D843-41EF-B948-4FA97E8D93CB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8CD30-00FF-4222-95A3-23F362633E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74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5624-E31A-48B1-A01D-6DEAECCAF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E4A82-5D5D-48A7-B98F-F3E57A004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91CF3-B965-42F3-B823-069A7FE5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D74B1-4C72-42FE-99FA-6D6C8CBF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F874-DBB9-4319-BC0E-2851FC0E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96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1C73-3027-4D87-BA38-8EF55A63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7D82-9D18-474C-9A92-A2C037970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0CDA9-6267-43E3-8868-B15A5BA60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21BCE-B47A-4E40-8C03-283DF757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68BD5-5BEA-438C-8CDB-DB9F4900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18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5C708-D2B1-41A1-93E9-5879056D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4171C-008A-49D8-A496-DB74FA913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59D5-7CBF-433D-AD2E-A4CADB3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5B77-E8E0-4F86-B200-D2B9FC8B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94490-AA51-4EA7-BB0D-0564C528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541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EC39-92C9-469E-9D73-B873DDB9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5615C-063C-41A0-99F4-E5BDE761E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58302-1FD9-4EDA-A9F6-4B4DF8A02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44013-74EA-474E-8C67-AD02197F4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A8A64-00E4-48FA-9C32-8C8A291C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0CF36-0866-42C8-ADC5-8326D5B4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59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52D6-5FBA-4424-8F5A-34EF331E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80F7-2B33-4C10-A722-1653A7D5E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1C586-DB2D-49AD-826E-D1D1FEF8F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794866-204F-4431-8DED-0E9C7BA39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D1DBE-3953-4CCB-A74F-BF1FEF6FF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99A36-D4ED-42BA-AAB7-F5625C83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81CEF-B42A-4209-B336-5CA1F14C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40E1D-5A44-48C8-9DE3-9D9B3268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25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133A-B666-45AE-BE80-F879BC4F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DC615-9C29-4BB5-9731-E5100131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9D161-2418-43D5-BD12-64684C49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FC644-DEF4-4058-AC31-4709A510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022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94721-0173-4844-9902-A3E851F3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76E95-4492-433C-A87D-18511BFA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2BDA3-B8EE-43F2-85CA-970FF530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99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9C8E-E618-43F7-954B-B23C9630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C5229-F88E-42C2-B7A8-B818D0C8A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A99DA-0D8F-4C8D-8BD0-F20C50865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ABBBC-16F9-47B3-8C7B-C0E123AD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AC74A-4FEC-41B6-9CE8-D3EF30C5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2C0CF-2F9A-479F-B29D-7F97D404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99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12A1-B652-4C48-BEC5-C8B51C8D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B3441-16DD-426C-BC6E-17AB9316B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40ADD-07A9-498E-B6DD-EF6C7931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F65E7-B0C3-4C5C-BB23-91E31D9E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CAFB4-A05A-4612-8C52-5FD45F50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A940E-C4FB-4112-9225-A3B5EECF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0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538CB-954C-4ECB-B043-964BF866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EC0A8-9097-46F2-8429-7CCCCD6D0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C883F-E737-46AE-BA53-9A6E7FB4B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FF8D5-31F3-421A-8ACF-A375ECBB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86818-B813-40FF-87F3-D7503E20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68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61510-F35E-4724-AF8B-205A01188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0853F-E3D6-4895-8E66-00E20962A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4F220-0781-4567-B4A1-5EFAD899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3302A-4B09-49FE-B4DD-022B9273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42AC3-3668-4F6B-B3D6-3569F4DD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23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49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32D88A-DE27-4C68-A94B-CE37266CE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8899F-0F9E-4EB1-A043-FE05EFF8A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70904-677F-4BB4-92FA-2A29CD97D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D3DAF-30CD-4A9C-8361-6AAEC2EAA48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ACDD8-70AD-433E-BF81-C4E72CEFF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D31F6-5697-4BF1-A709-FE8409D84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51C67-C287-49B4-9A70-12E15E58BE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33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6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6096000" cy="6096000"/>
          </a:xfrm>
          <a:prstGeom prst="ellipse">
            <a:avLst/>
          </a:prstGeom>
          <a:solidFill>
            <a:srgbClr val="4A3F9F">
              <a:alpha val="25000"/>
            </a:srgbClr>
          </a:solidFill>
          <a:ln w="12700">
            <a:solidFill>
              <a:srgbClr val="4A3F9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19200" y="4267200"/>
            <a:ext cx="3657600" cy="3657600"/>
          </a:xfrm>
          <a:prstGeom prst="ellipse">
            <a:avLst/>
          </a:prstGeom>
          <a:solidFill>
            <a:srgbClr val="6B5FD6">
              <a:alpha val="20000"/>
            </a:srgbClr>
          </a:solidFill>
          <a:ln w="12700">
            <a:solidFill>
              <a:srgbClr val="6B5FD6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0688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600" b="1" kern="0" spc="667" dirty="0">
                <a:solidFill>
                  <a:srgbClr val="6B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316480"/>
            <a:ext cx="1072896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>
              <a:lnSpc>
                <a:spcPct val="110000"/>
              </a:lnSpc>
            </a:pPr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OPERATIONS &amp;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10000"/>
              </a:lnSpc>
            </a:pPr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BRIEF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0" y="4815840"/>
            <a:ext cx="2438400" cy="73152"/>
          </a:xfrm>
          <a:prstGeom prst="rect">
            <a:avLst/>
          </a:prstGeom>
          <a:solidFill>
            <a:srgbClr val="6B5FD6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12064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Olanrewaju Ibukunoluwa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0972800" cy="1341120"/>
          </a:xfrm>
          <a:prstGeom prst="roundRect">
            <a:avLst>
              <a:gd name="adj" fmla="val 9091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40" y="1524000"/>
            <a:ext cx="104851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24 months, leadership at Zion Tech Hub Facility has become increasingly concerned about the hospital's ability to efficiently manage patient flow across the inpatient system.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3048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continued patient activity, several departments have reported challenges in moving patients through the inpatient system. This operational friction compromises service excellence.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3962400"/>
            <a:ext cx="1097280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084320"/>
            <a:ext cx="1036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CONCERNS UNDER REVIEW: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632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gridlock within high-volume clinical departments.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impacts of delayed discharge on overall patient outcomes.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revenue leakages affecting hospital financial sustainability.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&amp; ANALYTICAL APPROACH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integrated approximately </a:t>
            </a:r>
            <a:r>
              <a:rPr lang="en-US" sz="17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relational records</a:t>
            </a:r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core clinical operations, finance, demographics, and billing.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2255520"/>
            <a:ext cx="5425440" cy="304800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4A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MATRIX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86512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analytical dataset integrated using: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487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ID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(Encounter activities)
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(Demographics &amp; diagnoses)
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ID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(Financial transactions &amp; plans)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8880" y="2255520"/>
            <a:ext cx="5425440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22720" y="237744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OPERATIONAL METRICS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2720" y="2926080"/>
            <a:ext cx="487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Volume: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and tracking.
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Stay.
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Bed Day Burden: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utilization.
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clinical quality metric.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55473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was executed in Excel, analytical querying modeling in PostgreSQL, and final visualization structures built in Tableau.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17F58F-4FA1-4B37-9D0D-7F8CA936F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008" y="115503"/>
            <a:ext cx="11405937" cy="6246796"/>
          </a:xfrm>
        </p:spPr>
      </p:pic>
    </p:spTree>
    <p:extLst>
      <p:ext uri="{BB962C8B-B14F-4D97-AF65-F5344CB8AC3E}">
        <p14:creationId xmlns:p14="http://schemas.microsoft.com/office/powerpoint/2010/main" val="186858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DIAGNOSTICS: VOLUME VS. CAPACITY PRESSURES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INSIGHTS &amp; DATA TRENDS: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11216640" cy="1584960"/>
          </a:xfrm>
          <a:prstGeom prst="roundRect">
            <a:avLst>
              <a:gd name="adj" fmla="val 7692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1950720"/>
            <a:ext cx="104851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4A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INPATIENT VOLUME PATTERNS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2438400"/>
            <a:ext cx="1048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trend line tracks total encounter volume over time, representing the distinct number of individual inpatient admissions and clinical care processes managed by the hospital.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3657600"/>
            <a:ext cx="5486400" cy="2865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840480"/>
            <a:ext cx="499872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shows predictable winter surges, peaking at 94 encounters in January and 96 encounters in December, which perfectly aligns with end-of-year clinical trends.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5486400" cy="2865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1760" y="3840480"/>
            <a:ext cx="499872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of seasonal winter surges, baseline inpatient volume is highly stable. This proves operational strain is not driven by an influx of new patient numbers.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DIAGNOSTICS: VOLUME VS. CAPACITY PRESSURES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463040"/>
            <a:ext cx="542544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49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OCCUPANCY PRESSURE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133600"/>
            <a:ext cx="48768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trend line shows that Average Length of Stay (ALOS) remains elevated year-round, frequently peaking between 5.1 and 5.6 days (March, May, August, October) completely independent of volume dips.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78880" y="1463040"/>
            <a:ext cx="542544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2720" y="15849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INPATIENT STAYS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22720" y="2133600"/>
            <a:ext cx="48768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high ALOS validates concerns regarding delayed patient transition. Because stays remain high during low-volume months, the root cause is isolated to internal operational bottlenecks.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4998720"/>
            <a:ext cx="11216640" cy="1524000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480" y="509625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IMPLICATIONS: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480" y="54864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Bottlenecks: 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1,907 total encounters consumed 9,061 bed days, straining ward resources.
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Gridlock Risks: </a:t>
            </a:r>
            <a:r>
              <a:rPr lang="en-US" sz="1467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average stays block ward capacity and stall new inbound patient transfers.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F75D-D433-4AC3-88A5-C10779FB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A0423-2377-4D07-AE0B-685A931E9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A09B0-6BDD-4611-817D-0123411B7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1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DIAGNOSTICS: CAPACITY BOTTLENECK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INSIGHTS &amp; DATA TRENDS: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950720"/>
            <a:ext cx="542544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33600"/>
            <a:ext cx="487680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Medicine Dominance: </a:t>
            </a:r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85.5% of total volume and the highest department ALOS of 5.1 days, indicating high centralized pressure.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78880" y="1950720"/>
            <a:ext cx="542544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2720" y="2133600"/>
            <a:ext cx="487680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Stay Outliers: </a:t>
            </a:r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Pulmonology (ALOS: 7.4 days) and Psychiatry (ALOS: 6.8 days) consume a disproportionate share of bed capacity.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4632960"/>
            <a:ext cx="11216640" cy="1828800"/>
          </a:xfrm>
          <a:prstGeom prst="roundRect">
            <a:avLst>
              <a:gd name="adj" fmla="val 6667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480" y="4754880"/>
            <a:ext cx="1060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HOSPITAL OPERATIONS: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480" y="5242560"/>
            <a:ext cx="1060704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Pulmonology and Psychiatry utilize beds nearly twice as long as other units, creating a severe bed block that directly causes downstream admission bottlenecks.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DBE18D-EFA2-46FA-8671-92FB16CF9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137" y="202131"/>
            <a:ext cx="11758863" cy="5974832"/>
          </a:xfrm>
        </p:spPr>
      </p:pic>
    </p:spTree>
    <p:extLst>
      <p:ext uri="{BB962C8B-B14F-4D97-AF65-F5344CB8AC3E}">
        <p14:creationId xmlns:p14="http://schemas.microsoft.com/office/powerpoint/2010/main" val="322781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ANALYTICS: DIAGNOSIS &amp; READMISSION DRIVERS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INSIGHTS &amp; DIAGNOSIS DRIVERS: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950720"/>
            <a:ext cx="54254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33600"/>
            <a:ext cx="487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Use &amp; Lung Cancer: </a:t>
            </a:r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 down Psychiatry and Pulmonology's volume. Stays average 7.5 and 6.9 days respectively, creating high capacity demands.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78880" y="1950720"/>
            <a:ext cx="54254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2720" y="2133600"/>
            <a:ext cx="487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Readmission Crisis: </a:t>
            </a:r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Pulmonology accounts for 32% of total readmissions. Over 1 in 3 (33.7%) Lung Cancer patients are readmitted post-discharge.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4754880"/>
            <a:ext cx="11216640" cy="1706880"/>
          </a:xfrm>
          <a:prstGeom prst="roundRect">
            <a:avLst>
              <a:gd name="adj" fmla="val 7143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480" y="4876800"/>
            <a:ext cx="1060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HOSPITAL OPERATIONS: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480" y="53644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Substance Use causes long initial stays, Lung Cancer creates a repeating cycle of re-hospitalization, severely locking up inpatient beds.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7205BB-8266-4A91-9A0E-732D11315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392" y="394636"/>
            <a:ext cx="11473313" cy="5782327"/>
          </a:xfrm>
        </p:spPr>
      </p:pic>
    </p:spTree>
    <p:extLst>
      <p:ext uri="{BB962C8B-B14F-4D97-AF65-F5344CB8AC3E}">
        <p14:creationId xmlns:p14="http://schemas.microsoft.com/office/powerpoint/2010/main" val="2265399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ANALYTICS: CAPACITY CONSTRAINTS COST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CONSEQUENCES OF SYSTEM DELAYS: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950720"/>
            <a:ext cx="542544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33600"/>
            <a:ext cx="487680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Stagnant Revenue: </a:t>
            </a:r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revenues plateaued at $41M-$43M due to fixed capacity ceilings. When beds are full, the hospital cannot admit new patients.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78880" y="1950720"/>
            <a:ext cx="5425440" cy="243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2720" y="2133600"/>
            <a:ext cx="487680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 Yields: </a:t>
            </a:r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Psychiatry consumes huge bed day resources but generates the lowest relative yield. Margins are eroded by long stays.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4632960"/>
            <a:ext cx="11216640" cy="1828800"/>
          </a:xfrm>
          <a:prstGeom prst="roundRect">
            <a:avLst>
              <a:gd name="adj" fmla="val 6667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480" y="4754880"/>
            <a:ext cx="1060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DIAGNOSTIC: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480" y="5242560"/>
            <a:ext cx="1060704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High-burden clinical specialties with extremely high average stays limit hospital turnaround. Resolving clinical delays directly unlocks new patient admission pathways.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OPERATIONAL LEADERSHIP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402080"/>
            <a:ext cx="5425440" cy="5120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2400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4A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07264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Step-Down Care Units: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step-down clinical capacity to transition stable patients, freeing acute hospital beds.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41376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Focused Resource Staffing: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nursing and operational staff support in Pulmonology and Psychiatry to coordinate timely workflows.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Dynamic Bed Allocations: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match ward bed counts with current seasonal volume demands.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8880" y="1402080"/>
            <a:ext cx="5425440" cy="5120640"/>
          </a:xfrm>
          <a:prstGeom prst="roundRect">
            <a:avLst>
              <a:gd name="adj" fmla="val 2381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22720" y="152400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INVESTIGATION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2720" y="2072640"/>
            <a:ext cx="487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Inpatient Care Paths: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 the post-discharge care journey to target community medical services and limit readmission.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CLINICAL LEADERSHIP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402080"/>
            <a:ext cx="5425440" cy="5120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2400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4A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072640"/>
            <a:ext cx="487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Post-Discharge Care Programs: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Prioritize follow-up clinics and community-based telehealth for high-risk Lung Cancer cases.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78880" y="1402080"/>
            <a:ext cx="5425440" cy="5120640"/>
          </a:xfrm>
          <a:prstGeom prst="roundRect">
            <a:avLst>
              <a:gd name="adj" fmla="val 2381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2720" y="152400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AUDITS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22720" y="207264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Readiness Audit: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clinical discharge timelines versus administrative blocks to isolate delays.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22720" y="341376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Pulmonology Readmission Audit: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oncology treatment complications causing high readmit loops.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2720" y="475488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Psychiatric Transition Review: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long-stay cases for step-down behavioral placement gaps.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FINANCIAL LEADERSHIP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402080"/>
            <a:ext cx="5425440" cy="5120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2400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4A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RESOURCE ALLOCATION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072640"/>
            <a:ext cx="487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High-Burden Service Lines: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clinical transition teams specifically in Pulmonology and Psychiatry to limit avoidable stays.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87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Allocation: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department budgets to match actual bed-day demands and capacity requirements.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78880" y="1402080"/>
            <a:ext cx="5425440" cy="5120640"/>
          </a:xfrm>
          <a:prstGeom prst="roundRect">
            <a:avLst>
              <a:gd name="adj" fmla="val 2381"/>
            </a:avLst>
          </a:prstGeom>
          <a:solidFill>
            <a:srgbClr val="EEF0FF"/>
          </a:solidFill>
          <a:ln w="12700">
            <a:solidFill>
              <a:srgbClr val="6B5FD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22720" y="152400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QUANTIFICATIONS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22720" y="2072640"/>
            <a:ext cx="487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Margin of Stays: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daily costs of ward occupancy in over-utilized units to establish actual loss margins.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2720" y="3657600"/>
            <a:ext cx="487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Readmission Cost Burden: 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systemic financial penalties of high-readmit patients on current insurance plans.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 &amp; SCOPE CONSTRAINTS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463040"/>
            <a:ext cx="10972800" cy="1524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B5FD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463040"/>
            <a:ext cx="182880" cy="1524000"/>
          </a:xfrm>
          <a:prstGeom prst="rect">
            <a:avLst/>
          </a:prstGeom>
          <a:solidFill>
            <a:srgbClr val="6B5FD6"/>
          </a:solidFill>
          <a:ln w="12700">
            <a:solidFill>
              <a:srgbClr val="6B5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320" y="156057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6B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DIRECT COST AND MARGIN METRICS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36320" y="1975104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lists Gross Billed Amount and Net Revenue, but lacks internal operational cost accounting metrics. We cannot calculate exact margins or financial loss per extended stay.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3169920"/>
            <a:ext cx="10972800" cy="1524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B8FD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3169920"/>
            <a:ext cx="182880" cy="1524000"/>
          </a:xfrm>
          <a:prstGeom prst="rect">
            <a:avLst/>
          </a:prstGeom>
          <a:solidFill>
            <a:srgbClr val="9B8FD8"/>
          </a:solidFill>
          <a:ln w="12700">
            <a:solidFill>
              <a:srgbClr val="9B8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6320" y="326745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9B8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CLINICAL SEVERITY &amp; ACUITY DATA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6320" y="3681984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acuity tracking scores exist in the database. We cannot definitively say if a 7.5-day stay is driven by workflow delays or necessary clinical stabilization.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4876800"/>
            <a:ext cx="10972800" cy="1524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4876800"/>
            <a:ext cx="182880" cy="1524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6320" y="497433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POST-DISCHARGE PATIENT TRACKING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36320" y="5388864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medication adherence and clinical follow-ups are untracked. The root causes of the 33.7% Pulmonology readmissions cannot be definitively mapped to external gaps.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1057</Words>
  <Application>Microsoft Office PowerPoint</Application>
  <PresentationFormat>Widescreen</PresentationFormat>
  <Paragraphs>104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Ibukunoluwa Olanrewaju</dc:creator>
  <cp:lastModifiedBy>Ibukunoluwa Olanrewaju</cp:lastModifiedBy>
  <cp:revision>1</cp:revision>
  <dcterms:created xsi:type="dcterms:W3CDTF">2026-06-19T22:24:59Z</dcterms:created>
  <dcterms:modified xsi:type="dcterms:W3CDTF">2026-06-19T22:42:29Z</dcterms:modified>
</cp:coreProperties>
</file>